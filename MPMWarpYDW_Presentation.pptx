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MPMWarpYDW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GPU-Accelerated Coupled MPM-XPBD Framework</a:t>
            </a:r>
            <a:br/>
            <a:r>
              <a:t>for Geomaterial Failure and Fragmentation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Hybrid continuum-discrete simulation for progressive material failure:</a:t>
            </a:r>
          </a:p>
          <a:p>
            <a:pPr lvl="1">
              <a:spcAft>
                <a:spcPts val="800"/>
              </a:spcAft>
              <a:defRPr sz="1600"/>
            </a:pPr>
            <a:r>
              <a:t>MPM Phase: Elasto-plastic deformation with damage accumulation</a:t>
            </a:r>
          </a:p>
          <a:p>
            <a:pPr lvl="1">
              <a:spcAft>
                <a:spcPts val="800"/>
              </a:spcAft>
              <a:defRPr sz="1600"/>
            </a:pPr>
            <a:r>
              <a:t>Phase Transition: Automatic MPM → XPBD when damage ≥ 1.0</a:t>
            </a:r>
          </a:p>
          <a:p>
            <a:pPr lvl="1">
              <a:spcAft>
                <a:spcPts val="800"/>
              </a:spcAft>
              <a:defRPr sz="1600"/>
            </a:pPr>
            <a:r>
              <a:t>XPBD Phase: Discrete particle dynamics with contact resolution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Target Applications:</a:t>
            </a:r>
          </a:p>
          <a:p>
            <a:pPr lvl="1">
              <a:spcAft>
                <a:spcPts val="800"/>
              </a:spcAft>
              <a:defRPr sz="1600"/>
            </a:pPr>
            <a:r>
              <a:t>Rock avalanches and landslides</a:t>
            </a:r>
          </a:p>
          <a:p>
            <a:pPr lvl="1">
              <a:spcAft>
                <a:spcPts val="800"/>
              </a:spcAft>
              <a:defRPr sz="1600"/>
            </a:pPr>
            <a:r>
              <a:t>Cave propagation and block caving</a:t>
            </a:r>
          </a:p>
          <a:p>
            <a:pPr lvl="1">
              <a:spcAft>
                <a:spcPts val="800"/>
              </a:spcAft>
              <a:defRPr sz="1600"/>
            </a:pPr>
            <a:r>
              <a:t>Dynamic fragmentation under impact</a:t>
            </a:r>
          </a:p>
          <a:p>
            <a:pPr lvl="1">
              <a:spcAft>
                <a:spcPts val="800"/>
              </a:spcAft>
              <a:defRPr sz="1600"/>
            </a:pPr>
            <a:r>
              <a:t>Granular flow with cohesion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Material Point Method (MPM)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Constitutive Framework:</a:t>
            </a:r>
          </a:p>
          <a:p>
            <a:pPr lvl="1">
              <a:spcAft>
                <a:spcPts val="800"/>
              </a:spcAft>
              <a:defRPr sz="1600"/>
            </a:pPr>
            <a:r>
              <a:t>Multiplicative elastoplasticity with logarithmic (Hencky) strain</a:t>
            </a:r>
          </a:p>
          <a:p>
            <a:pPr lvl="1">
              <a:spcAft>
                <a:spcPts val="800"/>
              </a:spcAft>
              <a:defRPr sz="1600"/>
            </a:pPr>
            <a:r>
              <a:t>Von Mises (J₂) and Drucker-Prager plasticity models</a:t>
            </a:r>
          </a:p>
          <a:p>
            <a:pPr lvl="1">
              <a:spcAft>
                <a:spcPts val="800"/>
              </a:spcAft>
              <a:defRPr sz="1600"/>
            </a:pPr>
            <a:r>
              <a:t>Return mapping in principal strain space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Damage &amp; Phase Transition:</a:t>
            </a:r>
          </a:p>
          <a:p>
            <a:pPr lvl="1">
              <a:spcAft>
                <a:spcPts val="800"/>
              </a:spcAft>
              <a:defRPr sz="1600"/>
            </a:pPr>
            <a:r>
              <a:t>Isotropic scalar damage from accumulated plastic strain</a:t>
            </a:r>
          </a:p>
          <a:p>
            <a:pPr lvl="1">
              <a:spcAft>
                <a:spcPts val="800"/>
              </a:spcAft>
              <a:defRPr sz="1600"/>
            </a:pPr>
            <a:r>
              <a:t>Automatic transition to XPBD at critical damage</a:t>
            </a:r>
          </a:p>
          <a:p>
            <a:pPr lvl="1">
              <a:spcAft>
                <a:spcPts val="800"/>
              </a:spcAft>
              <a:defRPr sz="1600"/>
            </a:pPr>
            <a:r>
              <a:t>Energy release: elastic strain energy → kinetic energy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Numerical Schemes:</a:t>
            </a:r>
          </a:p>
          <a:p>
            <a:pPr lvl="1">
              <a:spcAft>
                <a:spcPts val="800"/>
              </a:spcAft>
              <a:defRPr sz="1600"/>
            </a:pPr>
            <a:r>
              <a:t>APIC transfer (angular momentum conservation)</a:t>
            </a:r>
          </a:p>
          <a:p>
            <a:pPr lvl="1">
              <a:spcAft>
                <a:spcPts val="800"/>
              </a:spcAft>
              <a:defRPr sz="1600"/>
            </a:pPr>
            <a:r>
              <a:t>Optional RPIC for controllable damping</a:t>
            </a:r>
          </a:p>
          <a:p>
            <a:pPr lvl="1">
              <a:spcAft>
                <a:spcPts val="800"/>
              </a:spcAft>
              <a:defRPr sz="1600"/>
            </a:pPr>
            <a:r>
              <a:t>Kelvin-Voigt viscoelasticity for stabilization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Kinematic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Deformation gradient update: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F_trial = (I + ∇v·Δt) · Fₙ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SVD decomposition: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F = U · Σ · Vᵀ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Logarithmic (Hencky) strain: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ε = log(Σ) = [log(σ₁), log(σ₂), log(σ₃)]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Volumetric-deviatoric split: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ε_vol = tr(ε)/3,    ε_dev = ε − ε_vol·I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Stress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Kirchhoff stress: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τ = 2μ·ε + λ·tr(ε)·I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Shear modulus: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μ = E / [2(1 + ν)]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First Lamé parameter: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λ = E·ν / [(1 + ν)(1 − 2ν)]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Cauchy stress: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σ = τ / det(F)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Von Mises Plasticity (J₂)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Yield criterion: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f = ‖τ_dev‖ − √(2/3)·(1−D)·σ_y ≤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Associated flow rule: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Δε_plastic = Δγ · (τ_dev / ‖τ_dev‖)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Plastic multiplier: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Δγ = ‖ε_dev‖ − σ_y,eff / (2μ)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Drucker-Prager Plasticity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Yield criterion: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f = ‖τ_dev‖ − √(2/3)·(1−D)·(σ_y − α·p) ≤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Mean stress: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p = tr(τ)/3    (compression negative)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Non-associated flow: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Δε_plastic = Δγ · [n_dev + β·I/3]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Dilatancy parameter: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β = 0.3·α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Damage Evolution &amp; Phase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Damage accumulation: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D = min(1.0, Σ(Δε_plastic) / ε_critical)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Strength degradation: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σ_y,eff = (1 − D) · σ_y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Strain energy density: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u = ½ · τ : 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Velocity at transition: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v_release = √(2·η·u/ρ)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Extended Position Based Dynamics (XPBD)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Contact Resolution:</a:t>
            </a:r>
          </a:p>
          <a:p>
            <a:pPr lvl="1">
              <a:spcAft>
                <a:spcPts val="800"/>
              </a:spcAft>
              <a:defRPr sz="1600"/>
            </a:pPr>
            <a:r>
              <a:t>Spatial hash grid for O(n) neighbor search</a:t>
            </a:r>
          </a:p>
          <a:p>
            <a:pPr lvl="1">
              <a:spcAft>
                <a:spcPts val="800"/>
              </a:spcAft>
              <a:defRPr sz="1600"/>
            </a:pPr>
            <a:r>
              <a:t>Iterative Gauss-Seidel constraint projection</a:t>
            </a:r>
          </a:p>
          <a:p>
            <a:pPr lvl="1">
              <a:spcAft>
                <a:spcPts val="800"/>
              </a:spcAft>
              <a:defRPr sz="1600"/>
            </a:pPr>
            <a:r>
              <a:t>SOR relaxation for faster convergence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Friction Model:</a:t>
            </a:r>
          </a:p>
          <a:p>
            <a:pPr lvl="1">
              <a:spcAft>
                <a:spcPts val="800"/>
              </a:spcAft>
              <a:defRPr sz="1600"/>
            </a:pPr>
            <a:r>
              <a:t>Coulomb friction with static/dynamic transition</a:t>
            </a:r>
          </a:p>
          <a:p>
            <a:pPr lvl="1">
              <a:spcAft>
                <a:spcPts val="800"/>
              </a:spcAft>
              <a:defRPr sz="1600"/>
            </a:pPr>
            <a:r>
              <a:t>Velocity-based threshold for static friction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Additional Features:</a:t>
            </a:r>
          </a:p>
          <a:p>
            <a:pPr lvl="1">
              <a:spcAft>
                <a:spcPts val="800"/>
              </a:spcAft>
              <a:defRPr sz="1600"/>
            </a:pPr>
            <a:r>
              <a:t>Particle cohesion (cementation)</a:t>
            </a:r>
          </a:p>
          <a:p>
            <a:pPr lvl="1">
              <a:spcAft>
                <a:spcPts val="800"/>
              </a:spcAft>
              <a:defRPr sz="1600"/>
            </a:pPr>
            <a:r>
              <a:t>Particle sleeping (computational efficiency)</a:t>
            </a:r>
          </a:p>
          <a:p>
            <a:pPr lvl="1">
              <a:spcAft>
                <a:spcPts val="800"/>
              </a:spcAft>
              <a:defRPr sz="1600"/>
            </a:pPr>
            <a:r>
              <a:t>Particle swelling (fragmentation bulking)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XPBD Contact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Contact constraint: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C = ‖xᵢ − xⱼ‖ − (rᵢ + rⱼ) ≥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Normal correction: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Δx_n = C · n · wᵢ / (wᵢ + wⱼ)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Contact normal: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n = (xᵢ − xⱼ) / ‖xᵢ − xⱼ‖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Friction (Coulomb):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Δx_f = clamp(Δv_t·Δt, −μ·|Δx_n|, μ·|Δx_n|)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MPM-XPBD Coupling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Contact-Based Momentum Transfer:</a:t>
            </a:r>
          </a:p>
          <a:p>
            <a:pPr lvl="1">
              <a:spcAft>
                <a:spcPts val="800"/>
              </a:spcAft>
              <a:defRPr sz="1600"/>
            </a:pPr>
            <a:r>
              <a:t>Direct particle-particle contact forces</a:t>
            </a:r>
          </a:p>
          <a:p>
            <a:pPr lvl="1">
              <a:spcAft>
                <a:spcPts val="800"/>
              </a:spcAft>
              <a:defRPr sz="1600"/>
            </a:pPr>
            <a:r>
              <a:t>Same XPBD constraint projection for MPM-XPBD contacts</a:t>
            </a:r>
          </a:p>
          <a:p>
            <a:pPr lvl="1">
              <a:spcAft>
                <a:spcPts val="800"/>
              </a:spcAft>
              <a:defRPr sz="1600"/>
            </a:pPr>
            <a:r>
              <a:t>xpbd_mpm_coupling_strength scales impulse magnitude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Material Label System:</a:t>
            </a:r>
          </a:p>
          <a:p>
            <a:pPr lvl="1">
              <a:spcAft>
                <a:spcPts val="800"/>
              </a:spcAft>
              <a:defRPr sz="1600"/>
            </a:pPr>
            <a:r>
              <a:t>Label 0: MPM in contact with XPBD (cannot transition)</a:t>
            </a:r>
          </a:p>
          <a:p>
            <a:pPr lvl="1">
              <a:spcAft>
                <a:spcPts val="800"/>
              </a:spcAft>
              <a:defRPr sz="1600"/>
            </a:pPr>
            <a:r>
              <a:t>Label 1: MPM not in contact (can transition if D ≥ 1)</a:t>
            </a:r>
          </a:p>
          <a:p>
            <a:pPr lvl="1">
              <a:spcAft>
                <a:spcPts val="800"/>
              </a:spcAft>
              <a:defRPr sz="1600"/>
            </a:pPr>
            <a:r>
              <a:t>Label 2: XPBD discrete particles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Transition Locking (prevents cascading failure):</a:t>
            </a:r>
          </a:p>
          <a:p>
            <a:pPr lvl="1">
              <a:spcAft>
                <a:spcPts val="800"/>
              </a:spcAft>
              <a:defRPr sz="1600"/>
            </a:pPr>
            <a:r>
              <a:t>Reset: all label 0 → label 1 before XPBD step</a:t>
            </a:r>
          </a:p>
          <a:p>
            <a:pPr lvl="1">
              <a:spcAft>
                <a:spcPts val="800"/>
              </a:spcAft>
              <a:defRPr sz="1600"/>
            </a:pPr>
            <a:r>
              <a:t>Detect: if MPM touches XPBD, set label → 0</a:t>
            </a:r>
          </a:p>
          <a:p>
            <a:pPr lvl="1">
              <a:spcAft>
                <a:spcPts val="800"/>
              </a:spcAft>
              <a:defRPr sz="1600"/>
            </a:pPr>
            <a:r>
              <a:t>Transition: only label 1 can become XPBD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Geostatic Initialization (K₀)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Vertical stress: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σ_v = −ρ·g·(z_top − 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Horizontal stress: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σ_h = K₀·σ_v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Initialize F (NOT stress):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F_init = diag(exp(ε₁), exp(ε₂), exp(ε₃))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Viscoelasticity (Kelvin-Voigt)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Viscous stress: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τ_visc = 2·η_shear·ε̇_dev + η_bulk·tr(ε̇)·I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Strain rate tensor: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ε̇ = ½·(∇v + ∇vᵀ)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Typical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η = 10³ − 10⁶ Pa·s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Numerical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CFL condition: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dt &lt; α · dx / c_p    (α ≈ 0.3−0.5)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P-wave speed: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c_p = √[(K + 4μ/3) / ρ]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Cell-crossing limit: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8B"/>
                </a:solidFill>
                <a:latin typeface="Cambria Math"/>
              </a:defRPr>
            </a:pPr>
            <a:r>
              <a:t>max(‖Δx‖) &lt; 0.5 · dx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Simulation Loop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Big Step Loop (outer):</a:t>
            </a:r>
          </a:p>
          <a:p>
            <a:pPr lvl="1">
              <a:spcAft>
                <a:spcPts val="800"/>
              </a:spcAft>
              <a:defRPr sz="1600"/>
            </a:pPr>
            <a:r>
              <a:t>Phase 1: Combined MPM+XPBD simulation</a:t>
            </a:r>
          </a:p>
          <a:p>
            <a:pPr lvl="1">
              <a:spcAft>
                <a:spcPts val="800"/>
              </a:spcAft>
              <a:defRPr sz="1600"/>
            </a:pPr>
            <a:r>
              <a:t>Phase 2: XPBD-only settling (optional)</a:t>
            </a:r>
          </a:p>
          <a:p>
            <a:pPr lvl="1">
              <a:spcAft>
                <a:spcPts val="800"/>
              </a:spcAft>
              <a:defRPr sz="1600"/>
            </a:pPr>
            <a:r>
              <a:t>Checkpoint save at big step boundary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Phase 1 Inner Loop:</a:t>
            </a:r>
          </a:p>
          <a:p>
            <a:pPr lvl="1">
              <a:spcAft>
                <a:spcPts val="800"/>
              </a:spcAft>
              <a:defRPr sz="1600"/>
            </a:pPr>
            <a:r>
              <a:t>MPM: stress → P2G → grid ops → G2P (every dt)</a:t>
            </a:r>
          </a:p>
          <a:p>
            <a:pPr lvl="1">
              <a:spcAft>
                <a:spcPts val="800"/>
              </a:spcAft>
              <a:defRPr sz="1600"/>
            </a:pPr>
            <a:r>
              <a:t>XPBD: hash grid → contacts → integrate (every dtxpbd)</a:t>
            </a:r>
          </a:p>
          <a:p>
            <a:pPr lvl="1">
              <a:spcAft>
                <a:spcPts val="800"/>
              </a:spcAft>
              <a:defRPr sz="1600"/>
            </a:pPr>
            <a:r>
              <a:t>Early termination: damage stall or convergence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Phase 2 (if xpbdOnlyDuration &gt; 0):</a:t>
            </a:r>
          </a:p>
          <a:p>
            <a:pPr lvl="1">
              <a:spcAft>
                <a:spcPts val="800"/>
              </a:spcAft>
              <a:defRPr sz="1600"/>
            </a:pPr>
            <a:r>
              <a:t>XPBD steps with frozen MPM</a:t>
            </a:r>
          </a:p>
          <a:p>
            <a:pPr lvl="1">
              <a:spcAft>
                <a:spcPts val="800"/>
              </a:spcAft>
              <a:defRPr sz="1600"/>
            </a:pPr>
            <a:r>
              <a:t>Sleep-based early termination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Configuration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Time Stepping:</a:t>
            </a:r>
          </a:p>
          <a:p>
            <a:pPr lvl="1">
              <a:spcAft>
                <a:spcPts val="800"/>
              </a:spcAft>
              <a:defRPr sz="1600"/>
            </a:pPr>
            <a:r>
              <a:t>dt: MPM timestep (0 = auto CFL)</a:t>
            </a:r>
          </a:p>
          <a:p>
            <a:pPr lvl="1">
              <a:spcAft>
                <a:spcPts val="800"/>
              </a:spcAft>
              <a:defRPr sz="1600"/>
            </a:pPr>
            <a:r>
              <a:t>dtxpbd: XPBD timestep (10-100× dt typical)</a:t>
            </a:r>
          </a:p>
          <a:p>
            <a:pPr lvl="1">
              <a:spcAft>
                <a:spcPts val="800"/>
              </a:spcAft>
              <a:defRPr sz="1600"/>
            </a:pPr>
            <a:r>
              <a:t>bigStepDuration, xpbdOnlyDuration: phase durations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Material:</a:t>
            </a:r>
          </a:p>
          <a:p>
            <a:pPr lvl="1">
              <a:spcAft>
                <a:spcPts val="800"/>
              </a:spcAft>
              <a:defRPr sz="1600"/>
            </a:pPr>
            <a:r>
              <a:t>E, nu: elastic moduli</a:t>
            </a:r>
          </a:p>
          <a:p>
            <a:pPr lvl="1">
              <a:spcAft>
                <a:spcPts val="800"/>
              </a:spcAft>
              <a:defRPr sz="1600"/>
            </a:pPr>
            <a:r>
              <a:t>ys, alpha: yield stress, pressure sensitivity</a:t>
            </a:r>
          </a:p>
          <a:p>
            <a:pPr lvl="1">
              <a:spcAft>
                <a:spcPts val="800"/>
              </a:spcAft>
              <a:defRPr sz="1600"/>
            </a:pPr>
            <a:r>
              <a:t>strainCriteria: plastic strain for full damage</a:t>
            </a:r>
          </a:p>
          <a:p>
            <a:pPr lvl="1">
              <a:spcAft>
                <a:spcPts val="800"/>
              </a:spcAft>
              <a:defRPr sz="1600"/>
            </a:pPr>
            <a:r>
              <a:t>eta_shear, eta_bulk: viscosity coefficients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Coupling:</a:t>
            </a:r>
          </a:p>
          <a:p>
            <a:pPr lvl="1">
              <a:spcAft>
                <a:spcPts val="800"/>
              </a:spcAft>
              <a:defRPr sz="1600"/>
            </a:pPr>
            <a:r>
              <a:t>xpbd_mpm_coupling_strength: impulse scaling</a:t>
            </a:r>
          </a:p>
          <a:p>
            <a:pPr lvl="1">
              <a:spcAft>
                <a:spcPts val="800"/>
              </a:spcAft>
              <a:defRPr sz="1600"/>
            </a:pPr>
            <a:r>
              <a:t>mpm_contact_transition_lock: prevent cascading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Output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Particle VTP Files (ParaView time series):</a:t>
            </a:r>
          </a:p>
          <a:p>
            <a:pPr lvl="1">
              <a:spcAft>
                <a:spcPts val="800"/>
              </a:spcAft>
              <a:defRPr sz="1600"/>
            </a:pPr>
            <a:r>
              <a:t>positions, radius, velocity</a:t>
            </a:r>
          </a:p>
          <a:p>
            <a:pPr lvl="1">
              <a:spcAft>
                <a:spcPts val="800"/>
              </a:spcAft>
              <a:defRPr sz="1600"/>
            </a:pPr>
            <a:r>
              <a:t>damage, mean_stress, von_mises</a:t>
            </a:r>
          </a:p>
          <a:p>
            <a:pPr lvl="1">
              <a:spcAft>
                <a:spcPts val="800"/>
              </a:spcAft>
              <a:defRPr sz="1600"/>
            </a:pPr>
            <a:r>
              <a:t>stress_tensor (6 components: xx, yy, zz, xy, xz, yz)</a:t>
            </a:r>
          </a:p>
          <a:p>
            <a:pPr lvl="1">
              <a:spcAft>
                <a:spcPts val="800"/>
              </a:spcAft>
              <a:defRPr sz="1600"/>
            </a:pPr>
            <a:r>
              <a:t>active_label, material_label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Checkpoint Data (at big step ends):</a:t>
            </a:r>
          </a:p>
          <a:p>
            <a:pPr lvl="1">
              <a:spcAft>
                <a:spcPts val="800"/>
              </a:spcAft>
              <a:defRPr sz="1600"/>
            </a:pPr>
            <a:r>
              <a:t>Full deformation gradient F, APIC matrix C</a:t>
            </a:r>
          </a:p>
          <a:p>
            <a:pPr lvl="1">
              <a:spcAft>
                <a:spcPts val="800"/>
              </a:spcAft>
              <a:defRPr sz="1600"/>
            </a:pPr>
            <a:r>
              <a:t>All material properties per particle</a:t>
            </a:r>
          </a:p>
          <a:p>
            <a:pPr lvl="1">
              <a:spcAft>
                <a:spcPts val="800"/>
              </a:spcAft>
              <a:defRPr sz="1600"/>
            </a:pPr>
            <a:r>
              <a:t>Enables restart: --restart path/to/checkpoint.vtp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Performance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GPU Scaling:</a:t>
            </a:r>
          </a:p>
          <a:p>
            <a:pPr lvl="1">
              <a:spcAft>
                <a:spcPts val="800"/>
              </a:spcAft>
              <a:defRPr sz="1600"/>
            </a:pPr>
            <a:r>
              <a:t>Particle operations: O(N) linear</a:t>
            </a:r>
          </a:p>
          <a:p>
            <a:pPr lvl="1">
              <a:spcAft>
                <a:spcPts val="800"/>
              </a:spcAft>
              <a:defRPr sz="1600"/>
            </a:pPr>
            <a:r>
              <a:t>Grid operations: O(G³) with grid volume</a:t>
            </a:r>
          </a:p>
          <a:p>
            <a:pPr lvl="1">
              <a:spcAft>
                <a:spcPts val="800"/>
              </a:spcAft>
              <a:defRPr sz="1600"/>
            </a:pPr>
            <a:r>
              <a:t>Contacts: O(N) with spatial hashing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Memory (approximate):</a:t>
            </a:r>
          </a:p>
          <a:p>
            <a:pPr lvl="1">
              <a:spcAft>
                <a:spcPts val="800"/>
              </a:spcAft>
              <a:defRPr sz="1600"/>
            </a:pPr>
            <a:r>
              <a:t>~500 bytes/particle, ~100 bytes/grid cell</a:t>
            </a:r>
          </a:p>
          <a:p>
            <a:pPr lvl="1">
              <a:spcAft>
                <a:spcPts val="800"/>
              </a:spcAft>
              <a:defRPr sz="1600"/>
            </a:pPr>
            <a:r>
              <a:t>1M particles + 256³ grid ≈ 2.5 GB VRAM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Tuning Tips:</a:t>
            </a:r>
          </a:p>
          <a:p>
            <a:pPr lvl="1">
              <a:spcAft>
                <a:spcPts val="800"/>
              </a:spcAft>
              <a:defRPr sz="1600"/>
            </a:pPr>
            <a:r>
              <a:t>Stiff materials: small dt, high xpbd_iterations</a:t>
            </a:r>
          </a:p>
          <a:p>
            <a:pPr lvl="1">
              <a:spcAft>
                <a:spcPts val="800"/>
              </a:spcAft>
              <a:defRPr sz="1600"/>
            </a:pPr>
            <a:r>
              <a:t>Phase transitions: use viscosity, eff &lt; 1.0</a:t>
            </a:r>
          </a:p>
          <a:p>
            <a:pPr lvl="1">
              <a:spcAft>
                <a:spcPts val="800"/>
              </a:spcAft>
              <a:defRPr sz="1600"/>
            </a:pPr>
            <a:r>
              <a:t>Large domains: grid_particle_spacing_scale = 2.0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MPM:</a:t>
            </a:r>
          </a:p>
          <a:p>
            <a:pPr lvl="1">
              <a:spcAft>
                <a:spcPts val="800"/>
              </a:spcAft>
              <a:defRPr sz="1600"/>
            </a:pPr>
            <a:r>
              <a:t>Sulsky et al. (1994) - Original MPM formulation</a:t>
            </a:r>
          </a:p>
          <a:p>
            <a:pPr lvl="1">
              <a:spcAft>
                <a:spcPts val="800"/>
              </a:spcAft>
              <a:defRPr sz="1600"/>
            </a:pPr>
            <a:r>
              <a:t>Stomakhin et al. (2013) - Snow simulation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Transfer Schemes:</a:t>
            </a:r>
          </a:p>
          <a:p>
            <a:pPr lvl="1">
              <a:spcAft>
                <a:spcPts val="800"/>
              </a:spcAft>
              <a:defRPr sz="1600"/>
            </a:pPr>
            <a:r>
              <a:t>Jiang et al. (2015) - APIC</a:t>
            </a:r>
          </a:p>
          <a:p>
            <a:pPr lvl="1">
              <a:spcAft>
                <a:spcPts val="800"/>
              </a:spcAft>
              <a:defRPr sz="1600"/>
            </a:pPr>
            <a:r>
              <a:t>Jiang et al. (2017) - SIGGRAPH MPM Course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XPBD:</a:t>
            </a:r>
          </a:p>
          <a:p>
            <a:pPr lvl="1">
              <a:spcAft>
                <a:spcPts val="800"/>
              </a:spcAft>
              <a:defRPr sz="1600"/>
            </a:pPr>
            <a:r>
              <a:t>Macklin et al. (2016) - XPBD formulation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Constitutive:</a:t>
            </a:r>
          </a:p>
          <a:p>
            <a:pPr lvl="1">
              <a:spcAft>
                <a:spcPts val="800"/>
              </a:spcAft>
              <a:defRPr sz="1600"/>
            </a:pPr>
            <a:r>
              <a:t>de Souza Neto et al. (2011) - Computational Plasticity</a:t>
            </a:r>
          </a:p>
          <a:p>
            <a:pPr lvl="1">
              <a:spcAft>
                <a:spcPts val="800"/>
              </a:spcAft>
              <a:defRPr sz="1600"/>
            </a:pPr>
            <a:r>
              <a:t>Simo (1992) - Multiplicative plasticity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Summary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GPU-accelerated MPM-XPBD coupling</a:t>
            </a:r>
            <a:br/>
            <a:r>
              <a:t>Multiplicative elastoplasticity with damage</a:t>
            </a:r>
            <a:br/>
            <a:r>
              <a:t>Automatic continuum → discrete transition</a:t>
            </a:r>
            <a:br/>
            <a:r>
              <a:t>Applications: geomaterial failure, fragmentation, granular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